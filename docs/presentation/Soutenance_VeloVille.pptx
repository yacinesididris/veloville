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cine SID IDRIS" userId="4d673623-6cb5-46fd-9e2d-fb8550477517" providerId="ADAL" clId="{C60ED2ED-3A23-4988-AF0D-A7C8902949EF}"/>
    <pc:docChg chg="undo custSel modSld">
      <pc:chgData name="Yacine SID IDRIS" userId="4d673623-6cb5-46fd-9e2d-fb8550477517" providerId="ADAL" clId="{C60ED2ED-3A23-4988-AF0D-A7C8902949EF}" dt="2026-10-15T15:27:23.414" v="108" actId="14100"/>
      <pc:docMkLst>
        <pc:docMk/>
      </pc:docMkLst>
      <pc:sldChg chg="addSp delSp modSp mod">
        <pc:chgData name="Yacine SID IDRIS" userId="4d673623-6cb5-46fd-9e2d-fb8550477517" providerId="ADAL" clId="{C60ED2ED-3A23-4988-AF0D-A7C8902949EF}" dt="2026-10-15T15:25:06.011" v="94" actId="478"/>
        <pc:sldMkLst>
          <pc:docMk/>
          <pc:sldMk cId="0" sldId="256"/>
        </pc:sldMkLst>
        <pc:spChg chg="add del">
          <ac:chgData name="Yacine SID IDRIS" userId="4d673623-6cb5-46fd-9e2d-fb8550477517" providerId="ADAL" clId="{C60ED2ED-3A23-4988-AF0D-A7C8902949EF}" dt="2026-10-15T15:24:13.150" v="4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0.943" v="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5.007" v="5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6.572" v="6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0.157" v="1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7.515" v="7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8.154" v="8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09.404" v="0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20.442" v="10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4:19.434" v="9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Yacine SID IDRIS" userId="4d673623-6cb5-46fd-9e2d-fb8550477517" providerId="ADAL" clId="{C60ED2ED-3A23-4988-AF0D-A7C8902949EF}" dt="2026-10-15T15:24:47.820" v="83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Yacine SID IDRIS" userId="4d673623-6cb5-46fd-9e2d-fb8550477517" providerId="ADAL" clId="{C60ED2ED-3A23-4988-AF0D-A7C8902949EF}" dt="2026-10-15T15:24:59.851" v="93" actId="20577"/>
          <ac:spMkLst>
            <pc:docMk/>
            <pc:sldMk cId="0" sldId="256"/>
            <ac:spMk id="19" creationId="{00000000-0000-0000-0000-000000000000}"/>
          </ac:spMkLst>
        </pc:spChg>
        <pc:spChg chg="del">
          <ac:chgData name="Yacine SID IDRIS" userId="4d673623-6cb5-46fd-9e2d-fb8550477517" providerId="ADAL" clId="{C60ED2ED-3A23-4988-AF0D-A7C8902949EF}" dt="2026-10-15T15:25:06.011" v="94" actId="478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Yacine SID IDRIS" userId="4d673623-6cb5-46fd-9e2d-fb8550477517" providerId="ADAL" clId="{C60ED2ED-3A23-4988-AF0D-A7C8902949EF}" dt="2026-10-15T15:27:23.414" v="108" actId="14100"/>
        <pc:sldMkLst>
          <pc:docMk/>
          <pc:sldMk cId="0" sldId="259"/>
        </pc:sldMkLst>
        <pc:spChg chg="mod">
          <ac:chgData name="Yacine SID IDRIS" userId="4d673623-6cb5-46fd-9e2d-fb8550477517" providerId="ADAL" clId="{C60ED2ED-3A23-4988-AF0D-A7C8902949EF}" dt="2026-10-15T15:27:23.414" v="108" actId="14100"/>
          <ac:spMkLst>
            <pc:docMk/>
            <pc:sldMk cId="0" sldId="259"/>
            <ac:spMk id="32" creationId="{00000000-0000-0000-0000-000000000000}"/>
          </ac:spMkLst>
        </pc:spChg>
      </pc:sldChg>
      <pc:sldChg chg="modSp mod">
        <pc:chgData name="Yacine SID IDRIS" userId="4d673623-6cb5-46fd-9e2d-fb8550477517" providerId="ADAL" clId="{C60ED2ED-3A23-4988-AF0D-A7C8902949EF}" dt="2026-10-15T15:26:50.516" v="105" actId="790"/>
        <pc:sldMkLst>
          <pc:docMk/>
          <pc:sldMk cId="0" sldId="262"/>
        </pc:sldMkLst>
        <pc:spChg chg="mod">
          <ac:chgData name="Yacine SID IDRIS" userId="4d673623-6cb5-46fd-9e2d-fb8550477517" providerId="ADAL" clId="{C60ED2ED-3A23-4988-AF0D-A7C8902949EF}" dt="2026-10-15T15:26:50.516" v="105" actId="790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Yacine SID IDRIS" userId="4d673623-6cb5-46fd-9e2d-fb8550477517" providerId="ADAL" clId="{C60ED2ED-3A23-4988-AF0D-A7C8902949EF}" dt="2026-10-15T15:25:45.999" v="102" actId="20577"/>
        <pc:sldMkLst>
          <pc:docMk/>
          <pc:sldMk cId="0" sldId="265"/>
        </pc:sldMkLst>
        <pc:spChg chg="mod">
          <ac:chgData name="Yacine SID IDRIS" userId="4d673623-6cb5-46fd-9e2d-fb8550477517" providerId="ADAL" clId="{C60ED2ED-3A23-4988-AF0D-A7C8902949EF}" dt="2026-10-15T15:25:45.999" v="102" actId="20577"/>
          <ac:spMkLst>
            <pc:docMk/>
            <pc:sldMk cId="0" sldId="265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8368"/>
            <a:ext cx="6126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9EDAD2"/>
                </a:solidFill>
                <a:latin typeface="Aptos"/>
              </a:rPr>
              <a:t>SOUTENANCE • ÉPREUVE E.2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417320"/>
            <a:ext cx="667512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VéloVille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6629400" cy="8433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fr-FR" sz="2500" dirty="0">
                <a:solidFill>
                  <a:srgbClr val="FFFFFF"/>
                </a:solidFill>
                <a:latin typeface="Aptos"/>
              </a:rPr>
              <a:t>Permettre de transformer la données brute en indicateur fiable</a:t>
            </a:r>
            <a:endParaRPr sz="25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096" y="3977639"/>
            <a:ext cx="1051560" cy="64008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279392"/>
            <a:ext cx="66294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DAE6EF"/>
                </a:solidFill>
                <a:latin typeface="Aptos"/>
              </a:rPr>
              <a:t>Importation • fiabilisation • restitution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71500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DAE6EF"/>
                </a:solidFill>
                <a:latin typeface="Aptos"/>
              </a:rPr>
              <a:t>Yacine Sid Idris  |  15 octobre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03320"/>
            <a:ext cx="31089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fr-FR" sz="1700" b="1" dirty="0">
                <a:solidFill>
                  <a:srgbClr val="FFFFFF"/>
                </a:solidFill>
                <a:latin typeface="Aptos"/>
              </a:rPr>
              <a:t>CSV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→ API → </a:t>
            </a:r>
            <a:r>
              <a:rPr lang="fr-FR" sz="1700" b="1" dirty="0">
                <a:solidFill>
                  <a:srgbClr val="FFFFFF"/>
                </a:solidFill>
                <a:latin typeface="Aptos"/>
              </a:rPr>
              <a:t>Rapport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Le besoin : rendre les données utilisables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3456432" cy="1874519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73152" cy="1874519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618488"/>
            <a:ext cx="30723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Données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72384" cy="12527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Trois exports CSV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Stations • trajets • incidents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Données hétérogènes à contrôler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81328"/>
            <a:ext cx="3456432" cy="1874519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70832" y="1481328"/>
            <a:ext cx="73152" cy="1874519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18488"/>
            <a:ext cx="30723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Traitement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72384" cy="12527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Importer sans perdre la traçabilité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Écarter ou normaliser selon les règles métier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Conserver des données cohérentes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481328"/>
            <a:ext cx="3456432" cy="1874519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01583" y="1481328"/>
            <a:ext cx="73152" cy="1874519"/>
          </a:xfrm>
          <a:prstGeom prst="roundRect">
            <a:avLst>
              <a:gd name="adj" fmla="val 8000"/>
            </a:avLst>
          </a:prstGeom>
          <a:solidFill>
            <a:srgbClr val="D79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618488"/>
            <a:ext cx="30723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84248"/>
            <a:ext cx="3072384" cy="12527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API sécurisée et interface tabulaire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Exploitant : gérer les incidents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Direction : consulter les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Mon objectif de réalisation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98848"/>
            <a:ext cx="103327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283440"/>
                </a:solidFill>
                <a:latin typeface="Aptos"/>
              </a:rPr>
              <a:t>Prioriser le socle qui rend la donnée exploitable : un import testé, des règles de fiabilisation explicites et des indicateurs calculés à partir de la 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FastAPI, PostgreSQL et Streamlit sont les technologies définies par le sujet.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ARCHITECTURE APPLICATIVE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Une chaîne simple, séparée par responsabilités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98064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3 fichiers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2148840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D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80944" y="2350008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Python /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798064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préparation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et fiabilisation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148840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D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2350008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798064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données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contraintes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2148840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2350008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798064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routes et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indicateurs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148840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40112" y="2350008"/>
            <a:ext cx="14264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2798064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Écrans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tabulaires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587752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587752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587752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587752"/>
            <a:ext cx="38404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5568" y="4297680"/>
            <a:ext cx="45079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Choix de conception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663440"/>
            <a:ext cx="4507992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La fiabilisation est réalisée dans des fonctions Python séparées de l'accès à la base.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16052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09360" y="416052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4297680"/>
            <a:ext cx="45079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Conséquence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663440"/>
            <a:ext cx="4507992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Les règles sont testables isolément ; l'import orchestre ensuite la préparation et l'insertion.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CHOIX DE RÉALISATION •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Import : fiabiliser avant d'insérer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883664"/>
            <a:ext cx="393192" cy="393192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39319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901952"/>
            <a:ext cx="16276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9304A"/>
                </a:solidFill>
                <a:latin typeface="Aptos"/>
              </a:rPr>
              <a:t>Lire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2148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charger les 3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2221992"/>
            <a:ext cx="301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1" y="1691640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58183" y="1883664"/>
            <a:ext cx="393192" cy="393192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58183" y="1901952"/>
            <a:ext cx="39319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1901952"/>
            <a:ext cx="16276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9304A"/>
                </a:solidFill>
                <a:latin typeface="Aptos"/>
              </a:rPr>
              <a:t>Préparer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450592"/>
            <a:ext cx="2148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appliquer les règles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par ressource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3" y="2221992"/>
            <a:ext cx="301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1691640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38544" y="1883664"/>
            <a:ext cx="393192" cy="393192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1901952"/>
            <a:ext cx="39319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901952"/>
            <a:ext cx="16276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9304A"/>
                </a:solidFill>
                <a:latin typeface="Aptos"/>
              </a:rPr>
              <a:t>Tracer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450592"/>
            <a:ext cx="2148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rejets, corrections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et avertissements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221992"/>
            <a:ext cx="301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39691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1" y="1691640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18903" y="1883664"/>
            <a:ext cx="393192" cy="393192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18903" y="1901952"/>
            <a:ext cx="393192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1901952"/>
            <a:ext cx="16276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9304A"/>
                </a:solidFill>
                <a:latin typeface="Aptos"/>
              </a:rPr>
              <a:t>Insérer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1" y="2450592"/>
            <a:ext cx="2148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Écrire les lignes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283440"/>
                </a:solidFill>
                <a:latin typeface="Aptos"/>
              </a:rPr>
              <a:t>valides dans 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Décisions importantes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133087"/>
            <a:ext cx="10725912" cy="803297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/>
              <a:t>Une </a:t>
            </a:r>
            <a:r>
              <a:rPr dirty="0" err="1"/>
              <a:t>arrivée</a:t>
            </a:r>
            <a:r>
              <a:rPr dirty="0"/>
              <a:t> inconnue </a:t>
            </a:r>
            <a:r>
              <a:rPr dirty="0" err="1"/>
              <a:t>est</a:t>
            </a:r>
            <a:r>
              <a:rPr dirty="0"/>
              <a:t> mise → NULL et </a:t>
            </a:r>
            <a:r>
              <a:rPr dirty="0" err="1"/>
              <a:t>journalisée</a:t>
            </a:r>
            <a:r>
              <a:rPr dirty="0"/>
              <a:t> ; le </a:t>
            </a:r>
            <a:r>
              <a:rPr dirty="0" err="1"/>
              <a:t>trajet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conservé</a:t>
            </a:r>
            <a:r>
              <a:rPr dirty="0"/>
              <a:t> (RG3).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/>
              <a:t>Les </a:t>
            </a:r>
            <a:r>
              <a:rPr dirty="0" err="1"/>
              <a:t>doublons</a:t>
            </a:r>
            <a:r>
              <a:rPr dirty="0"/>
              <a:t> du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Éliminés</a:t>
            </a:r>
            <a:r>
              <a:rPr dirty="0"/>
              <a:t> </a:t>
            </a:r>
            <a:r>
              <a:rPr dirty="0" err="1"/>
              <a:t>lors</a:t>
            </a:r>
            <a:r>
              <a:rPr dirty="0"/>
              <a:t> de la </a:t>
            </a:r>
            <a:r>
              <a:rPr dirty="0" err="1"/>
              <a:t>préparation</a:t>
            </a:r>
            <a:r>
              <a:rPr dirty="0"/>
              <a:t> ; les </a:t>
            </a:r>
            <a:r>
              <a:rPr dirty="0" err="1"/>
              <a:t>clés</a:t>
            </a:r>
            <a:r>
              <a:rPr dirty="0"/>
              <a:t> déjà </a:t>
            </a:r>
            <a:r>
              <a:rPr dirty="0" err="1"/>
              <a:t>en</a:t>
            </a:r>
            <a:r>
              <a:rPr dirty="0"/>
              <a:t> base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ignorées</a:t>
            </a:r>
            <a:r>
              <a:rPr dirty="0"/>
              <a:t> </a:t>
            </a:r>
            <a:r>
              <a:rPr dirty="0" err="1"/>
              <a:t>lors</a:t>
            </a:r>
            <a:r>
              <a:rPr dirty="0"/>
              <a:t> de </a:t>
            </a:r>
            <a:r>
              <a:rPr dirty="0" err="1"/>
              <a:t>l'insertion</a:t>
            </a:r>
            <a:r>
              <a:rPr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/>
              <a:t>Les </a:t>
            </a:r>
            <a:r>
              <a:rPr dirty="0" err="1"/>
              <a:t>fonctions</a:t>
            </a:r>
            <a:r>
              <a:rPr dirty="0"/>
              <a:t> de </a:t>
            </a:r>
            <a:r>
              <a:rPr dirty="0" err="1"/>
              <a:t>fiabilisation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indépendantes</a:t>
            </a:r>
            <a:r>
              <a:rPr dirty="0"/>
              <a:t> de la BDD : </a:t>
            </a:r>
            <a:r>
              <a:rPr dirty="0" err="1"/>
              <a:t>l'accès</a:t>
            </a:r>
            <a:r>
              <a:rPr dirty="0"/>
              <a:t> aux données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regroupé</a:t>
            </a:r>
            <a:r>
              <a:rPr dirty="0"/>
              <a:t> dans importer.py.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CHOIX DE RÉALISATION • QUALITÉ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Les règles métier guident les décisions de nettoyage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520440" cy="1426464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481328"/>
            <a:ext cx="73152" cy="1426464"/>
          </a:xfrm>
          <a:prstGeom prst="roundRect">
            <a:avLst>
              <a:gd name="adj" fmla="val 8000"/>
            </a:avLst>
          </a:prstGeom>
          <a:solidFill>
            <a:srgbClr val="B15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18488"/>
            <a:ext cx="31363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Rejeter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3136392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Durée non entière ou ≤ 0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Départ obligatoire inconnu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Incident incohérent avec sa cible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81328"/>
            <a:ext cx="3520440" cy="1426464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481328"/>
            <a:ext cx="73152" cy="1426464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18488"/>
            <a:ext cx="31363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Normaliser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36392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Casse ou espaces dans les références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Statut et dates reconnus sous une forme corrigeable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481328"/>
            <a:ext cx="3520440" cy="1426464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73568" y="1481328"/>
            <a:ext cx="73152" cy="1426464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4736" y="1618488"/>
            <a:ext cx="313639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Conserver + avertir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84248"/>
            <a:ext cx="3136392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Arrivée non référencée → NULL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Technicien absent : signalé, non bloquant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01568"/>
            <a:ext cx="10634472" cy="1554480"/>
          </a:xfrm>
          <a:prstGeom prst="roundRect">
            <a:avLst>
              <a:gd name="adj" fmla="val 8000"/>
            </a:avLst>
          </a:prstGeom>
          <a:solidFill>
            <a:srgbClr val="19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639312"/>
            <a:ext cx="28346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9EDAD2"/>
                </a:solidFill>
                <a:latin typeface="Aptos"/>
              </a:rPr>
              <a:t>Ce que je privilégie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41648"/>
            <a:ext cx="98755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Aptos"/>
              </a:rPr>
              <a:t>Ne pas faire disparaître silencieusement une ligne : chaque décision est associée à un motif et à un numéro de ligne dans le rapport.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413248"/>
            <a:ext cx="105156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3717D"/>
                </a:solidFill>
                <a:latin typeface="Aptos"/>
              </a:rPr>
              <a:t>La base renforce aussi les contrôles avec clés primaires, clés étrangères et contraintes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RÉSULTATS OBSERVÉS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Import testé sur le jeu de données fourni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3456432" cy="166420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19656"/>
            <a:ext cx="3108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100" b="1">
                <a:solidFill>
                  <a:srgbClr val="239691"/>
                </a:solidFill>
                <a:latin typeface="Aptos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59152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stations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3054096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83440"/>
                </a:solidFill>
                <a:latin typeface="Aptos"/>
              </a:rPr>
              <a:t>120 importées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600200"/>
            <a:ext cx="3456432" cy="166420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1819656"/>
            <a:ext cx="3108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100" b="1">
                <a:solidFill>
                  <a:srgbClr val="2E5B82"/>
                </a:solidFill>
                <a:latin typeface="Aptos"/>
              </a:rPr>
              <a:t>2 030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359152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trajets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70632"/>
            <a:ext cx="3054096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83440"/>
                </a:solidFill>
                <a:latin typeface="Aptos"/>
              </a:rPr>
              <a:t>2 004 importés • 15 rejetés • 11 doublons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600200"/>
            <a:ext cx="3456432" cy="166420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22207" y="1819656"/>
            <a:ext cx="3108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100" b="1">
                <a:solidFill>
                  <a:srgbClr val="239691"/>
                </a:solidFill>
                <a:latin typeface="Aptos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2359152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incidents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770632"/>
            <a:ext cx="3054096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83440"/>
                </a:solidFill>
                <a:latin typeface="Aptos"/>
              </a:rPr>
              <a:t>177 importés • 3 rejetés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76472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776472"/>
            <a:ext cx="73152" cy="1298448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913632"/>
            <a:ext cx="4599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Idempotence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279392"/>
            <a:ext cx="4599432" cy="676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Deux exécutions de l'import donnent les mêmes volumes en base (REC-01).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76472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9632" y="3776472"/>
            <a:ext cx="73152" cy="1298448"/>
          </a:xfrm>
          <a:prstGeom prst="roundRect">
            <a:avLst>
              <a:gd name="adj" fmla="val 8000"/>
            </a:avLst>
          </a:prstGeom>
          <a:solidFill>
            <a:srgbClr val="D79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4599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Limite connue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79392"/>
            <a:ext cx="4599432" cy="676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Le rapport liste les décisions, mais ne résume pas tous les volumes attendus : le bilan doit être recompté manuellement.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40680"/>
            <a:ext cx="106984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717D"/>
                </a:solidFill>
                <a:latin typeface="Aptos"/>
              </a:rPr>
              <a:t>Comptages et rejets consignés dans le relevé de recette ; l'intégrité des références d'arrivée reste à vérifier explicitement.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CHOIX DE RÉALISATION • INDICATEURS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Les indicateurs sont calculés dans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dirty="0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0784"/>
            <a:ext cx="3456432" cy="182880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700784"/>
            <a:ext cx="3456432" cy="100584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Activité par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303580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Nombre de trajets par date de départ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Période filtrable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700784"/>
            <a:ext cx="3456432" cy="182880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35424" y="1700784"/>
            <a:ext cx="3456432" cy="100584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8304" y="2011680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Stations actives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560320"/>
            <a:ext cx="303580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Départs + arrivées par station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Tri par mouvements décroissants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700784"/>
            <a:ext cx="3456432" cy="182880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57615" y="1700784"/>
            <a:ext cx="3456432" cy="100584"/>
          </a:xfrm>
          <a:prstGeom prst="roundRect">
            <a:avLst>
              <a:gd name="adj" fmla="val 8000"/>
            </a:avLst>
          </a:prstGeom>
          <a:solidFill>
            <a:srgbClr val="D79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5" y="2011680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Incidents par statut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5" y="2560320"/>
            <a:ext cx="303580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Comptage par statut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Délai moyen de résolution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10241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Pourquoi calculer côté base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149840" cy="803297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/>
              <a:t>Limiter les données </a:t>
            </a:r>
            <a:r>
              <a:rPr dirty="0" err="1"/>
              <a:t>transférées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l'application</a:t>
            </a:r>
            <a:r>
              <a:rPr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 err="1"/>
              <a:t>Laisser</a:t>
            </a:r>
            <a:r>
              <a:rPr dirty="0"/>
              <a:t> PostgreSQL </a:t>
            </a:r>
            <a:r>
              <a:rPr lang="fr-FR" dirty="0"/>
              <a:t>effectuer</a:t>
            </a:r>
            <a:r>
              <a:rPr dirty="0"/>
              <a:t> les agrégations et </a:t>
            </a:r>
            <a:r>
              <a:rPr dirty="0" err="1"/>
              <a:t>filtres</a:t>
            </a:r>
            <a:r>
              <a:rPr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83440"/>
                </a:solidFill>
                <a:latin typeface="Aptos"/>
              </a:defRPr>
            </a:pPr>
            <a:r>
              <a:rPr dirty="0"/>
              <a:t>Tester les </a:t>
            </a:r>
            <a:r>
              <a:rPr dirty="0" err="1"/>
              <a:t>fonctions</a:t>
            </a:r>
            <a:r>
              <a:rPr dirty="0"/>
              <a:t> de </a:t>
            </a:r>
            <a:r>
              <a:rPr dirty="0" err="1"/>
              <a:t>calcul</a:t>
            </a:r>
            <a:r>
              <a:rPr dirty="0"/>
              <a:t> </a:t>
            </a:r>
            <a:r>
              <a:rPr dirty="0" err="1"/>
              <a:t>indépendamment</a:t>
            </a:r>
            <a:r>
              <a:rPr dirty="0"/>
              <a:t> des </a:t>
            </a:r>
            <a:r>
              <a:rPr dirty="0" err="1"/>
              <a:t>Écrans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API et interface : deux rôles, une restitution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5166360" cy="1874519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508760"/>
            <a:ext cx="73152" cy="1874519"/>
          </a:xfrm>
          <a:prstGeom prst="roundRect">
            <a:avLst>
              <a:gd name="adj" fmla="val 8000"/>
            </a:avLst>
          </a:prstGeom>
          <a:solidFill>
            <a:srgbClr val="2E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45919"/>
            <a:ext cx="47823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API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782312" cy="12527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Authentification par jeton JWT.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Routes de consultation paginées.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Mise à jour du statut d'incident réservée à l'exploitant.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08760"/>
            <a:ext cx="5166360" cy="1874519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508760"/>
            <a:ext cx="73152" cy="1874519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19"/>
            <a:ext cx="47823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Front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82312" cy="12527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Connexion puis pages Stations, Incidents et Indicateurs.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Restitution en tableaux et valeurs clés, sans graphiques.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332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Choix cohérents avec le périmètre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89120"/>
            <a:ext cx="102412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83440"/>
                </a:solidFill>
                <a:latin typeface="Aptos"/>
              </a:rPr>
              <a:t>J'ai privilégié une interface de consultation directe, et séparé les responsabilités : l'API applique les règles d'accès et expose les données ; le front les présente.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14416"/>
            <a:ext cx="10469880" cy="475488"/>
          </a:xfrm>
          <a:prstGeom prst="roundRect">
            <a:avLst>
              <a:gd name="adj" fmla="val 8000"/>
            </a:avLst>
          </a:prstGeom>
          <a:solidFill>
            <a:srgbClr val="D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101041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9304A"/>
                </a:solidFill>
                <a:latin typeface="Aptos"/>
              </a:rPr>
              <a:t>À noter : le jeton Streamlit n'est pas conservé après un rechargement complet du navigateur.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Tests : résultat ciblé, périmètre assumé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2944368" cy="2331720"/>
          </a:xfrm>
          <a:prstGeom prst="roundRect">
            <a:avLst>
              <a:gd name="adj" fmla="val 8000"/>
            </a:avLst>
          </a:prstGeom>
          <a:solidFill>
            <a:srgbClr val="19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19656"/>
            <a:ext cx="2514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78608"/>
            <a:ext cx="23774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9EDAD2"/>
                </a:solidFill>
                <a:latin typeface="Aptos"/>
              </a:rPr>
              <a:t>tests réussis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377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services testés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554480"/>
            <a:ext cx="3246120" cy="233172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41648" y="1554480"/>
            <a:ext cx="73152" cy="2331720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42816" y="1691639"/>
            <a:ext cx="286207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Couverture ciblée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057400"/>
            <a:ext cx="2862072" cy="1709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100 % sur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fiabilisation.py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et indicateurs.py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440"/>
                </a:solidFill>
                <a:latin typeface="Aptos"/>
              </a:rPr>
              <a:t>236 instructions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554480"/>
            <a:ext cx="3794760" cy="2331720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07808" y="1554480"/>
            <a:ext cx="73152" cy="2331720"/>
          </a:xfrm>
          <a:prstGeom prst="roundRect">
            <a:avLst>
              <a:gd name="adj" fmla="val 8000"/>
            </a:avLst>
          </a:prstGeom>
          <a:solidFill>
            <a:srgbClr val="D79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08976" y="1691639"/>
            <a:ext cx="34107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9304A"/>
                </a:solidFill>
                <a:latin typeface="Aptos"/>
              </a:rPr>
              <a:t>Non couvert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6" y="2057400"/>
            <a:ext cx="3410712" cy="1709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Pas de tests complets d'intégration API ni de tests du front.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83440"/>
                </a:solidFill>
                <a:latin typeface="Aptos"/>
              </a:rPr>
              <a:t>Je ne présente donc pas ce chiffre comme une couverture globale.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70832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Priorité donnée à ce qui protège le cœur métier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83440"/>
                </a:solidFill>
                <a:latin typeface="Aptos"/>
              </a:rPr>
              <a:t>L'import, les fonctions de fiabilisation et les indicateurs ont été testés. Le reste de l'application a été réalisé, mais n'a pas reçu une campagne de tests exhaustive faute de temps.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875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969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099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9304A"/>
                </a:solidFill>
                <a:latin typeface="Aptos"/>
              </a:rPr>
              <a:t>Démonstration et suite du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11137392" cy="13716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777240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717D"/>
                </a:solidFill>
                <a:latin typeface="Aptos"/>
              </a:rPr>
              <a:t>VÉLOVILLE  •  SOUTENANCE E.2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3717D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35608"/>
            <a:ext cx="5029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Parcours de démonstration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965960"/>
            <a:ext cx="420624" cy="402336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84248"/>
            <a:ext cx="4023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993391"/>
            <a:ext cx="41605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83440"/>
                </a:solidFill>
                <a:latin typeface="Aptos"/>
              </a:rPr>
              <a:t>Lancer / vérifier l'import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651760"/>
            <a:ext cx="420624" cy="402336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670048"/>
            <a:ext cx="4023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679191"/>
            <a:ext cx="41605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83440"/>
                </a:solidFill>
                <a:latin typeface="Aptos"/>
              </a:rPr>
              <a:t>Ouvrir l'application et se connecter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37560"/>
            <a:ext cx="420624" cy="402336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355848"/>
            <a:ext cx="4023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364991"/>
            <a:ext cx="41605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83440"/>
                </a:solidFill>
                <a:latin typeface="Aptos"/>
              </a:rPr>
              <a:t>Consulter stations et incidents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023360"/>
            <a:ext cx="420624" cy="402336"/>
          </a:xfrm>
          <a:prstGeom prst="roundRect">
            <a:avLst>
              <a:gd name="adj" fmla="val 8000"/>
            </a:avLst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041648"/>
            <a:ext cx="4023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50792"/>
            <a:ext cx="416052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83440"/>
                </a:solidFill>
                <a:latin typeface="Aptos"/>
              </a:rPr>
              <a:t>Présenter les trois indicateurs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508760"/>
            <a:ext cx="5321808" cy="3502152"/>
          </a:xfrm>
          <a:prstGeom prst="roundRect">
            <a:avLst>
              <a:gd name="adj" fmla="val 8000"/>
            </a:avLst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2" y="1810512"/>
            <a:ext cx="4709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9304A"/>
                </a:solidFill>
                <a:latin typeface="Aptos"/>
              </a:rPr>
              <a:t>Ce qui reste à améliorer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50008"/>
            <a:ext cx="4617720" cy="1449628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defRPr sz="1500">
                <a:solidFill>
                  <a:srgbClr val="283440"/>
                </a:solidFill>
                <a:latin typeface="Aptos"/>
              </a:defRPr>
            </a:pPr>
            <a:r>
              <a:rPr lang="fr-FR" dirty="0"/>
              <a:t>-</a:t>
            </a:r>
            <a:r>
              <a:rPr dirty="0" err="1"/>
              <a:t>Compléter</a:t>
            </a:r>
            <a:r>
              <a:rPr dirty="0"/>
              <a:t> le </a:t>
            </a:r>
            <a:r>
              <a:rPr dirty="0" err="1"/>
              <a:t>récapitulatif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des volumes </a:t>
            </a:r>
            <a:r>
              <a:rPr dirty="0" err="1"/>
              <a:t>d'import</a:t>
            </a:r>
            <a:r>
              <a:rPr dirty="0"/>
              <a:t>.</a:t>
            </a:r>
          </a:p>
          <a:p>
            <a:pPr>
              <a:defRPr sz="1500">
                <a:solidFill>
                  <a:srgbClr val="283440"/>
                </a:solidFill>
                <a:latin typeface="Aptos"/>
              </a:defRPr>
            </a:pPr>
            <a:r>
              <a:rPr lang="fr-FR" dirty="0"/>
              <a:t>-</a:t>
            </a:r>
            <a:r>
              <a:rPr dirty="0"/>
              <a:t>Conserver la session après </a:t>
            </a:r>
            <a:r>
              <a:rPr dirty="0" err="1"/>
              <a:t>rechargement</a:t>
            </a:r>
            <a:r>
              <a:rPr dirty="0"/>
              <a:t> du front.</a:t>
            </a:r>
          </a:p>
          <a:p>
            <a:pPr>
              <a:defRPr sz="1500">
                <a:solidFill>
                  <a:srgbClr val="283440"/>
                </a:solidFill>
                <a:latin typeface="Aptos"/>
              </a:defRPr>
            </a:pPr>
            <a:r>
              <a:rPr lang="fr-FR" dirty="0"/>
              <a:t>-</a:t>
            </a:r>
            <a:r>
              <a:rPr dirty="0" err="1"/>
              <a:t>Ajouter</a:t>
            </a:r>
            <a:r>
              <a:rPr dirty="0"/>
              <a:t> les tests </a:t>
            </a:r>
            <a:r>
              <a:rPr dirty="0" err="1"/>
              <a:t>d'intégration</a:t>
            </a:r>
            <a:r>
              <a:rPr dirty="0"/>
              <a:t> API et les tests du front.</a:t>
            </a:r>
          </a:p>
          <a:p>
            <a:pPr>
              <a:defRPr sz="1500">
                <a:solidFill>
                  <a:srgbClr val="283440"/>
                </a:solidFill>
                <a:latin typeface="Aptos"/>
              </a:defRPr>
            </a:pPr>
            <a:r>
              <a:rPr lang="fr-FR" dirty="0"/>
              <a:t>-</a:t>
            </a:r>
            <a:r>
              <a:rPr dirty="0" err="1"/>
              <a:t>Rejouer</a:t>
            </a:r>
            <a:r>
              <a:rPr dirty="0"/>
              <a:t> et documenter les </a:t>
            </a:r>
            <a:r>
              <a:rPr dirty="0" err="1"/>
              <a:t>scénarios</a:t>
            </a:r>
            <a:r>
              <a:rPr dirty="0"/>
              <a:t> de </a:t>
            </a:r>
            <a:r>
              <a:rPr dirty="0" err="1"/>
              <a:t>recette</a:t>
            </a:r>
            <a:r>
              <a:rPr dirty="0"/>
              <a:t> </a:t>
            </a:r>
            <a:r>
              <a:rPr dirty="0" err="1"/>
              <a:t>incomplets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486400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19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596128"/>
            <a:ext cx="10012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Bilan : le socle de traitement de données est la priorité livrée ; les limites restantes sont identifiées.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928</Words>
  <Application>Microsoft Office PowerPoint</Application>
  <PresentationFormat>Grand écran</PresentationFormat>
  <Paragraphs>180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VéloVille - Soutenance E.2</dc:title>
  <dc:subject>Import, fiabilisation, indicateurs et choix de réalisation</dc:subject>
  <dc:creator>Yacine Sid Idris</dc:creator>
  <cp:keywords>V?loVille, soutenance, application, import, fiabilisation</cp:keywords>
  <dc:description>generated using python-pptx</dc:description>
  <cp:lastModifiedBy>Yacine SID IDRIS</cp:lastModifiedBy>
  <cp:revision>1</cp:revision>
  <dcterms:created xsi:type="dcterms:W3CDTF">2013-01-27T09:14:16Z</dcterms:created>
  <dcterms:modified xsi:type="dcterms:W3CDTF">2026-10-15T15:27:33Z</dcterms:modified>
  <cp:category/>
</cp:coreProperties>
</file>